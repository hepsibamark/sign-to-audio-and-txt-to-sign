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731520"/>
            <a:ext cx="10728655" cy="54864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🤟 STATEMENT OF PURPOSE &amp; CAPSTONE PRESENTATION</a:t>
            </a:r>
          </a:p>
          <a:p>
            <a:pPr>
              <a:defRPr sz="3200" b="1">
                <a:solidFill>
                  <a:srgbClr val="F8FAFC"/>
                </a:solidFill>
                <a:latin typeface="Segoe UI"/>
              </a:defRPr>
            </a:pPr>
            <a:r>
              <a:t>Bi-Directional Sign Language &amp; Audio Assistive Suite</a:t>
            </a:r>
          </a:p>
          <a:p>
            <a:pPr>
              <a:defRPr sz="1800">
                <a:solidFill>
                  <a:srgbClr val="38BDF8"/>
                </a:solidFill>
                <a:latin typeface="Segoe UI"/>
              </a:defRPr>
            </a:pPr>
            <a:r>
              <a:t>Real-Time Sign-to-Audio (Tamil &amp; English)  |  Text &amp; Voice-to-Sign Language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6B6D4"/>
                </a:solidFill>
                <a:latin typeface="Segoe UI"/>
              </a:defRPr>
            </a:pPr>
            <a:r>
              <a:t>2-Way Communication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Deaf ⇄ Hearing Bridge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65576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02736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0B981"/>
                </a:solidFill>
                <a:latin typeface="Segoe UI"/>
              </a:defRPr>
            </a:pPr>
            <a:r>
              <a:t>Bilingual Speech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Tamil (தமிழ்) &amp; English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99632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36792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Segoe UI"/>
              </a:defRPr>
            </a:pPr>
            <a:r>
              <a:t>95.05% ML Accuracy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Random Forest (41 Classes)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933688" y="3291840"/>
            <a:ext cx="2514600" cy="146304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070848" y="3520440"/>
            <a:ext cx="22402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59E0B"/>
                </a:solidFill>
                <a:latin typeface="Segoe UI"/>
              </a:defRPr>
            </a:pPr>
            <a:r>
              <a:t>Real-Time Vision</a:t>
            </a:r>
          </a:p>
          <a:p>
            <a:pPr>
              <a:defRPr sz="1100">
                <a:solidFill>
                  <a:srgbClr val="CBD5E1"/>
                </a:solidFill>
                <a:latin typeface="Segoe UI"/>
              </a:defRPr>
            </a:pPr>
            <a:r>
              <a:t>&gt; 40 FPS on Standard CPU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728655" cy="109728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25780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F8FAFC"/>
                </a:solidFill>
                <a:latin typeface="Segoe UI"/>
              </a:defRPr>
            </a:pPr>
            <a:r>
              <a:t>Author &amp; Lead Developer: Hepsiba Mark   |   Technologies: Google MediaPipe, OpenCV, Scikit-Learn, gTTS, pyttsx3, Streamlit</a:t>
            </a:r>
          </a:p>
          <a:p>
            <a:pPr>
              <a:defRPr sz="1100">
                <a:solidFill>
                  <a:srgbClr val="06B6D4"/>
                </a:solidFill>
                <a:latin typeface="Segoe UI"/>
              </a:defRPr>
            </a:pPr>
            <a:r>
              <a:t>Project Repository: https://github.com/HepsibaMark/Sign-to-audio-and-txt-to-sign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CHALLENGES IN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Social Problem &amp; Research Motivation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1. Massive Community Isolation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• 70+ Million Deaf Individuals</a:t>
            </a:r>
            <a:br/>
            <a:r>
              <a:t>Worldwide use sign language as their primary or native language.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&lt; 0.1% Public Fluency</a:t>
            </a:r>
            <a:br/>
            <a:r>
              <a:t>Fewer than 1 in 1,000 hearing individuals understand basic manual sign gestures.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Severe Everyday Impact</a:t>
            </a:r>
            <a:br/>
            <a:r>
              <a:t>Doctor appointments, banking, legal queries, and classroom discussions face critical communication barriers.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The Critical 'One-Way' Flaw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• Traditional Tools Are Asymmetric</a:t>
            </a:r>
            <a:br/>
            <a:r>
              <a:t>Most projects only convert hand signs into screen text or English audio.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The Broken Exchange</a:t>
            </a:r>
            <a:br/>
            <a:r>
              <a:t>When a deaf patient signs to a doctor, the doctor's spoken response CANNOT be understood by the patient without an interpreter.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Bi-Directionality Is Required</a:t>
            </a:r>
            <a:br/>
            <a:r>
              <a:t>Real communication demands a two-way loop: Sign ➔ Speech and Voice ➔ Sign.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3. Regional Language Exclusion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BD5E1"/>
                </a:solidFill>
              </a:defRPr>
            </a:pPr>
            <a:r>
              <a:t>• English Monoculture</a:t>
            </a:r>
            <a:br/>
            <a:r>
              <a:t>Over 95% of published assistive tools exclusively synthesize English voice output.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80+ Million Tamil Speakers</a:t>
            </a:r>
            <a:br/>
            <a:r>
              <a:t>In Tamil Nadu, Sri Lanka, Singapore, and Malaysia, deaf families require native Tamil voice output (e.g. 'வணக்கம்', 'உதவி').</a:t>
            </a:r>
          </a:p>
          <a:p>
            <a:br/>
            <a:pPr>
              <a:defRPr sz="1200">
                <a:solidFill>
                  <a:srgbClr val="CBD5E1"/>
                </a:solidFill>
              </a:defRPr>
            </a:pPr>
            <a:r>
              <a:t>• Our Mission</a:t>
            </a:r>
            <a:br/>
            <a:r>
              <a:t>Bridge BOTH linguistic barriers simultaneously: sign-to-voice and voice-to-sign in Tamil &amp; English.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TWO-WAY INCLUSIVE PARADIGM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The Integrated Bi-Directional Solution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FORWARD PIPELINE: Sign ➔ Audio (Deaf to Hearing)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📹 Video Acquisition: Standard consumer RGB webcam, zero sensor gloves or specialized hardware needed.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✋ 3D Hand Tracking: Google MediaPipe extracts 21 keypoints with spatial invariance normalization.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🤖 Machine Learning Classifier: Random Forest classifier recognizes 41 sign classes (A-Z + 15 everyday signs).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⏱️ Hold-to-Confirm Stabilization: State-machine debouncer ensures stable sentence construction without jitter.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🔊 Dual-Voice Speech Synthesis: Audible spoken output in Tamil (தமிழ் - gTTS studio voice) or English (pyttsx3).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REVERSE PIPELINE: Text &amp; Voice ➔ Sign (Hearing to Deaf)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⌨️ Multi-Modal Input: Type text or speak into microphone in either Tamil (தமிழ்) or English.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🎙️ Real-Time Speech-to-Text: Google Speech Recognition parses speech with language codes 'ta-IN' and 'en-US'.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🔤 Bilingual Tokenizer: Maps multi-word phrases, single signs, or phonetic Roman transliteration.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🎬 Procedural Skeletal Animation: Renders anatomical hand skeleton cards with color-coded finger bones.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⏮️ Playback Timeline Controls: Play, pause, skip, and adjust playback speed with simultaneous audio narration.</a:t>
            </a:r>
            <a:b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TECHNICAL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System Architecture &amp; End-to-End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Stage 1: Input 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RGB Webcam Stream (720p)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Typed Text (Tamil / English)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Microphone Audio (ta-IN / en-US)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889504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72384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Stage 2: Feature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80944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MediaPipe 21 3D Landmarks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Translation to Wrist (0,0,0)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Scale Normalization (MCP-9)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63-D Invariant Vector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47488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230368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Stage 3: Decision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38928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Random Forest (150 trees)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41 Vocabulary Classes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Top-3 Probabilities output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Geometric heuristic safety net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05472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88352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Stage 4: Linguistics &amp; Debounce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96912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Hold-to-Confirm (0.8s timer)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Tamil-English Lexical Mapper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Phonetic Transliteration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Sentence Buffer Manager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63456" y="1645920"/>
            <a:ext cx="1993392" cy="438912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46336" y="1783080"/>
            <a:ext cx="16276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Stage 5: Multi-Modal 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54896" y="2194560"/>
            <a:ext cx="181051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Tamil Audio (gTTS Studio)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English Audio (pyttsx3 SAPI5)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Visual 3D Skeleton Cards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Animated Sign Timeline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MATHEMATICAL FORMULATION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Computer Vision: 21 3D Landmark Normalization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621792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Geometric Normalization Algorithms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5852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1. MediaPipe 3D Landmark Extraction</a:t>
            </a:r>
            <a:br/>
            <a:r>
              <a:t>MediaPipe Hands identifies 21 spatial landmarks P_i = (x_i, y_i, z_i) for i in {0, ..., 20} spanning the wrist, MCP, PIP, DIP, and fingertips.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2. Translation Invariance (Shift to Wrist Origin)</a:t>
            </a:r>
            <a:br/>
            <a:r>
              <a:t>To eliminate reliance on where the hand is positioned on the webcam screen:</a:t>
            </a:r>
            <a:br/>
            <a:r>
              <a:t>  P_i~ = P_i - P_0,  resulting in P_0~ = (0, 0, 0).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3. Scale Invariance (Euclidean Knuckle Normalization)</a:t>
            </a:r>
            <a:br/>
            <a:r>
              <a:t>To ensure equal accuracy whether the hand is 30 cm or 2 meters from camera:</a:t>
            </a:r>
            <a:br/>
            <a:r>
              <a:t>  S_ref = ||P_9~ - P_0~||_2  (Euclidean distance: Wrist to Middle MCP)</a:t>
            </a:r>
            <a:br/>
            <a:r>
              <a:t>  P_i^ = P_i~ / S_ref  for all 21 keypoints.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4. Final Invariant Feature Vector</a:t>
            </a:r>
            <a:br/>
            <a:r>
              <a:t>F = [x_0^, y_0^, z_0^, ..., x_20^, y_20^, z_20^] in R^63.</a:t>
            </a:r>
            <a:br/>
            <a:r>
              <a:t>Guarantees complete independence from hand size, camera distance, and position.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7223760" y="1645920"/>
            <a:ext cx="42062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17830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Segoe UI"/>
              </a:defRPr>
            </a:pPr>
            <a:r>
              <a:t>Hand Anatomy &amp; Keypoint Map</a:t>
            </a:r>
          </a:p>
        </p:txBody>
      </p:sp>
      <p:pic>
        <p:nvPicPr>
          <p:cNvPr id="11" name="Picture 10" descr="H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2194560"/>
            <a:ext cx="3474720" cy="347472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406640" y="5120640"/>
            <a:ext cx="3840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Color-Coded Anatomical Bone Segments:</a:t>
            </a:r>
            <a:br/>
            <a:r>
              <a:t>• Orange: Thumb  • Yellow: Index  • Green: Middle</a:t>
            </a:r>
            <a:br/>
            <a:r>
              <a:t>• Blue: Ring  • Pink: Pinky  • White: Palm Bridge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SUPERVISED CLASSIFICATION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Machine Learning Classifier &amp; Training Evaluation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12064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Random Forest Classifier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75488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Ensemble Strategy: 150 Decision Trees with bootstrap aggregation (Bagging).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Max Tree Depth: 24 levels to prevent overfitting while capturing non-linear angles.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Input Features: 63 continuous features (normalized 3D coordinates).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Multi-Class Scope: 41 Classes (26 ASL alphabet letters + 15 conversational words).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Inference Latency: &lt; 2 milliseconds per frame on standard laptop CPU (&gt; 500 FPS).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Probability Distribution: Predicts exact Top-3 class confidences for visual transparency.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Empirical Test Benchmark (95.05% Accuracy)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Total Dataset Samples: 7,380 samples across 41 classes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Training Set (80%): 5,904 stratified samples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Test / Validation Set (20%): 1,476 unseen test samples</a:t>
            </a:r>
            <a:br/>
          </a:p>
          <a:p>
            <a:pPr>
              <a:defRPr sz="1100">
                <a:solidFill>
                  <a:srgbClr val="F8FAFC"/>
                </a:solidFill>
              </a:defRPr>
            </a:pPr>
            <a:r>
              <a:t>✓ Overall Test Accuracy: 95.05% (1,403 / 1,476 correctly classified)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Macro Precision: 0.95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Macro Recall: 0.95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Macro F1-Score: 0.95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Per-Class Accuracies: 100% precision on A, B, C, D, HELLO, WATER, OK, PEACE, Y, I LOVE YOU</a:t>
            </a:r>
            <a:b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DATASET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Dataset Generation &amp; 3D Spatial Augmentation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Real-World Capture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collect_data.py Tool</a:t>
            </a:r>
            <a:br/>
            <a:r>
              <a:t>Custom interactive data recorder built with OpenCV and MediaPipe.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Real User Baseline</a:t>
            </a:r>
            <a:br/>
            <a:r>
              <a:t>Captures genuine hand shapes under real webcam conditions.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Preserved Integrations</a:t>
            </a:r>
            <a:br/>
            <a:r>
              <a:t>2,340 real baseline samples permanently retained in training set.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Canonical Linguistic Poses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Standard ASL Vocabulary</a:t>
            </a:r>
            <a:br/>
            <a:r>
              <a:t>Procedural generator synthesizes all 26 manual alphabet configurations (A-Z) and social gestures.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Anatomical State Modeling</a:t>
            </a:r>
            <a:br/>
            <a:r>
              <a:t>Explicit modeling of thumb ('up', 'folded', 'ring', 'side') and fingers ('extended', 'bent', 'folded').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Zero Bias</a:t>
            </a:r>
            <a:br/>
            <a:r>
              <a:t>Eliminates background, skin tone, and clothing bias completely.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3D Spatial Augmentation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3D Gaussian Jitter</a:t>
            </a:r>
            <a:br/>
            <a:r>
              <a:t>Noise N(0, 0.022^2) added to all joints to simulate joint tremors.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3D Euler Rotations</a:t>
            </a:r>
            <a:br/>
            <a:r>
              <a:t>Rotates hands across Yaw (-10° to +10°), Pitch (-7° to +7°), and Roll (-7° to +7°).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Scale Fluctuations</a:t>
            </a:r>
            <a:br/>
            <a:r>
              <a:t>Random scale scaling (0.93 - 1.07) and re-normalization producing 7,380 robust samples.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TEMPORAL FILTERING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Hold-to-Confirm Stabilization &amp; Sentence Building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State-Machine Stabilization Engine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The Frame Jitter Challenge:</a:t>
            </a:r>
            <a:br/>
            <a:r>
              <a:t>  Vision models output 30 predictions/second. Intermediate finger transitions create noisy, spurious letter spam.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Debounce Formula:</a:t>
            </a:r>
            <a:br/>
            <a:r>
              <a:t>  Progress(t) = min(1.0, (t - t_start) / tau_hold), where tau_hold = 0.8 seconds.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State Transitions:</a:t>
            </a:r>
            <a:br/>
            <a:r>
              <a:t>  1. IDLE: Awaiting gesture with confidence &gt;= 0.70.</a:t>
            </a:r>
            <a:br/>
            <a:r>
              <a:t>2. CANDIDATE: User holds gesture; UI progress bar fills 0% -&gt; 100%.</a:t>
            </a:r>
            <a:br/>
            <a:r>
              <a:t>3. CONFIRMED: Triggered once timer hits 0.8s; token registered into buffer.</a:t>
            </a:r>
            <a:br/>
            <a:r>
              <a:t>4. COOLDOWN: 0.6s grace period prevents duplicate character spam.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Sentence Formation &amp; Dynamic Buffer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Fingerspelling vs Words:</a:t>
            </a:r>
            <a:br/>
            <a:r>
              <a:t>  Single characters (A-Z) concatenate immediately (e.g., 'H-E-L-P'). Whole phrases (e.g., 'THANK YOU') append with automatic word boundary spacing.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Dynamic Sentence Editing:</a:t>
            </a:r>
            <a:br/>
            <a:r>
              <a:t>  • Add Space: Manually or via space token.</a:t>
            </a:r>
            <a:br/>
            <a:r>
              <a:t>• Backspace: Deletes last letter or whole word cleanly.</a:t>
            </a:r>
            <a:br/>
            <a:r>
              <a:t>• Clear: Resets the working sentence buffer instantly.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Bilingual Synchronization:</a:t>
            </a:r>
            <a:br/>
            <a:r>
              <a:t>  As words are registered into the English sentence, the Tamil linguistic engine continuously generates the synchronized Tamil translation in real time!</a:t>
            </a:r>
            <a:b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COMPUTATIONAL LINGUISTICS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Bilingual Translation Engine (Tamil &lt;-&gt; English)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Unicode Script &amp; Semantic Lexicon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Unicode Tamil Block Detection</a:t>
            </a:r>
            <a:br/>
            <a:r>
              <a:t>Regex parsing identifies Tamil characters (U+0B80 - U+0BFF) for automatic routing.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Core Bilingual Dictionary</a:t>
            </a:r>
            <a:br/>
            <a:r>
              <a:t>Bi-directional lookup mapping 40+ key concepts:</a:t>
            </a:r>
            <a:br/>
            <a:r>
              <a:t>- HELLO ⇄ வணக்கம் (Vanakkam)</a:t>
            </a:r>
            <a:br/>
            <a:r>
              <a:t>- THANK YOU ⇄ நன்றி (Nandri)</a:t>
            </a:r>
            <a:br/>
            <a:r>
              <a:t>- WATER ⇄ தண்ணீர் (Thanneer)</a:t>
            </a:r>
            <a:br/>
            <a:r>
              <a:t>- HELP ⇄ உதவி (Uthavi)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2. Phrase Disambiguation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Multi-Word Window Matching</a:t>
            </a:r>
            <a:br/>
            <a:r>
              <a:t>Evaluates 3-word ('I LOVE YOU') and 2-word ('THANK YOU') phrases before checking individual tokens.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Contextual Grammar Mapping</a:t>
            </a:r>
            <a:br/>
            <a:r>
              <a:t>'I NEED WATER PLEASE' is translated cleanly into:</a:t>
            </a:r>
            <a:br/>
            <a:r>
              <a:t>'நான் தண்ணீர் வேண்டும் தயவுசெய்து'.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Clean Word Tokenization</a:t>
            </a:r>
            <a:br/>
            <a:r>
              <a:t>Strips punctuation and maintains spacing across linguistic boundaries.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3. Phonetic Transliteration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Out-of-Vocabulary Resilience</a:t>
            </a:r>
            <a:br/>
            <a:r>
              <a:t>Names or non-dictionary Tamil words are automatically mapped into phonetic Latin characters.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Tamil Character Mapping Table</a:t>
            </a:r>
            <a:br/>
            <a:r>
              <a:t>Maps vowels (அ -&gt; a, ஆ -&gt; aa) and consonants (க -&gt; k, த -&gt; th) so any Tamil word can be finger-spelled!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ASL Alphabet Tamil Transliteration</a:t>
            </a:r>
            <a:br/>
            <a:r>
              <a:t>Manual alphabet letters mapped into Tamil pronunciations: A -&gt; ஏ, B -&gt; பி, C -&gt; சி.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DUAL-ENGINE SPEECH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Asynchronous Speech Synthesis Architecture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Thread-Safe Queue &amp; Dual TTS Engines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Non-Blocking Worker Thread:</a:t>
            </a:r>
            <a:br/>
            <a:r>
              <a:t>  Speech synthesis runs in a decoupled background daemon thread. Video streaming and gesture detection NEVER freeze or drop frames.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English Engine (pyttsx3 / SAPI5):</a:t>
            </a:r>
            <a:br/>
            <a:r>
              <a:t>  Completely offline, ultra-low latency (&lt; 45ms), adjustable speech rate (100 - 240 WPM) and volume.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Tamil Engine (gTTS Neural Voice):</a:t>
            </a:r>
            <a:br/>
            <a:r>
              <a:t>  Studio-quality natural Tamil voice pronunciation ('ta' locale) producing realistic, human-like cadence.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Automatic Language Routing:</a:t>
            </a:r>
            <a:br/>
            <a:r>
              <a:t>  Auto-detects Tamil characters in string and selects the proper linguistic speech backend.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Instant Audio Caching &amp; Universal Fallbacks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Instant Local Audio Cache:</a:t>
            </a:r>
            <a:br/>
            <a:r>
              <a:t>  Synthesized Tamil phrases are stored as MP3 files in 'assets/audio_cache/'. Subsequent calls load in &lt; 15ms with ZERO network overhead!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pygame Audio Mixer Integration:</a:t>
            </a:r>
            <a:br/>
            <a:r>
              <a:t>  Hardware-accelerated MP3 stream playback with volume control and smooth fade transitions.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Universal Resilience Strategy:</a:t>
            </a:r>
            <a:br/>
            <a:r>
              <a:t>  If pyttsx3 is absent on a machine, the engine automatically falls back to gTTS English. Never throws ModuleNotFoundError!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Spoken Utterance Logging:</a:t>
            </a:r>
            <a:br/>
            <a:r>
              <a:t>  Timestamped speech history log displayed directly inside the application GUI.</a:t>
            </a:r>
            <a:b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HIGH-CLARITY DIAGRAMS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Visual Sign Generator &amp; Anatomical Gallery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HELLO</a:t>
            </a:r>
          </a:p>
        </p:txBody>
      </p:sp>
      <p:pic>
        <p:nvPicPr>
          <p:cNvPr id="8" name="Picture 7" descr="HEL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194560"/>
            <a:ext cx="2240280" cy="2240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வணக்கம் (Vanakkam)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Open Palm Greeting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48456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THANK YOU</a:t>
            </a:r>
          </a:p>
        </p:txBody>
      </p:sp>
      <p:pic>
        <p:nvPicPr>
          <p:cNvPr id="12" name="Picture 11" descr="THANK YOU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2736" y="2194560"/>
            <a:ext cx="2240280" cy="22402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57016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நன்றி (Nandri)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Chin Forward Motion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82512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WATER</a:t>
            </a:r>
          </a:p>
        </p:txBody>
      </p:sp>
      <p:pic>
        <p:nvPicPr>
          <p:cNvPr id="16" name="Picture 15" descr="WA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6792" y="2194560"/>
            <a:ext cx="2240280" cy="2240280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291072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தண்ணீர் (Thanneer)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'W' Sign Survival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16568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I LOVE YOU</a:t>
            </a:r>
          </a:p>
        </p:txBody>
      </p:sp>
      <p:pic>
        <p:nvPicPr>
          <p:cNvPr id="20" name="Picture 19" descr="I LOVE YOU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70848" y="2194560"/>
            <a:ext cx="2240280" cy="224028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25128" y="5029200"/>
            <a:ext cx="2331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Segoe UI"/>
              </a:defRPr>
            </a:pPr>
            <a:r>
              <a:t>நான் உன்னை நேசிக்கிறேன்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Universal ASL Affection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FOUR COMPREHENSIVE INTERFACES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Multi-Frontend Application Suite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1. Unified Desktop Hub</a:t>
            </a:r>
            <a:br/>
            <a:r>
              <a:t>(gui_app.py)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377440"/>
            <a:ext cx="22951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All-in-one Tkinter GUI.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Tab 1: Live camera stream, landmark overlays, sentence builder, Tamil &amp; English voice buttons.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Tab 2: Typed text / mic input, sign animation canvas, timeline navigation.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65576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48456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2. Web Portal</a:t>
            </a:r>
            <a:br/>
            <a:r>
              <a:t>(streamlit_app.py)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304" y="2377440"/>
            <a:ext cx="22951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Modern browser dashboard.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Webcam snapshot gesture classifier with ML probabilities.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Interactive bilingual flashcard dictionary with sound.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Speech synthesizer studio.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99632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82512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3. Fast OpenCV HUD</a:t>
            </a:r>
            <a:br/>
            <a:r>
              <a:t>(app.py)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377440"/>
            <a:ext cx="22951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Ultra-low latency window.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Direct keyboard hotkeys: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- [T]: Speak in Tamil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- [E]: Speak in English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- [L]: Toggle language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  - [SPACE], [BKSP], [C].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33688" y="1645920"/>
            <a:ext cx="251460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16568" y="1783080"/>
            <a:ext cx="2148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4. Visual Sign Player</a:t>
            </a:r>
            <a:br/>
            <a:r>
              <a:t>(text_to_sign_app.py)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43416" y="2377440"/>
            <a:ext cx="2295144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BD5E1"/>
                </a:solidFill>
              </a:defRPr>
            </a:pPr>
            <a:r>
              <a:t>• Dedicated hearing-to-deaf sign player.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Microphone voice input in Tamil or English.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Play, Pause, Replay.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Speed slider (0.3x - 2.0x).</a:t>
            </a:r>
          </a:p>
          <a:p>
            <a:pPr>
              <a:defRPr sz="1000">
                <a:solidFill>
                  <a:srgbClr val="CBD5E1"/>
                </a:solidFill>
              </a:defRPr>
            </a:pPr>
            <a:r>
              <a:t>• Step timeline list.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SYSTEM RELIABILITY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Fault Isolation &amp; Failure State Preservation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Core Design Principle: Isolated Failure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⚠️ The 'Isolated Failure' Law:</a:t>
            </a:r>
            <a:br/>
            <a:r>
              <a:t>  If an operation or mission encounters an error, THAT OPERATION ALONE FAILS — previously generated outputs, text buffers, and visual animations MUST NEVER be destroyed.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⚠️ Microphone Recording Isolation:</a:t>
            </a:r>
            <a:br/>
            <a:r>
              <a:t>  If the mic times out, detects background noise, or loses internet:</a:t>
            </a:r>
            <a:br/>
            <a:r>
              <a:t>• Text entry box stays 100% intact.</a:t>
            </a:r>
            <a:br/>
            <a:r>
              <a:t>• Current visual sign diagrams remain visible.</a:t>
            </a:r>
            <a:br/>
            <a:r>
              <a:t>• Displays a non-destructive warning in status bar.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⚠️ Hand Detection Loss Isolation:</a:t>
            </a:r>
            <a:br/>
            <a:r>
              <a:t>  If hand moves out of webcam frame:</a:t>
            </a:r>
            <a:br/>
            <a:r>
              <a:t>• Working sentence buffer is preserved.</a:t>
            </a:r>
            <a:br/>
            <a:r>
              <a:t>• Speech history is retained.</a:t>
            </a:r>
            <a:br/>
            <a:r>
              <a:t>• System gracefully awaits hand return.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Technical Safeguard Implementations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Non-Destructive Tokenizer:</a:t>
            </a:r>
            <a:br/>
            <a:r>
              <a:t>  If an unknown word is typed, the system falls back to phonetic fingerspelling rather than throwing an exception.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Dual-Layer Classifier Fallback:</a:t>
            </a:r>
            <a:br/>
            <a:r>
              <a:t>  If ML model confidence drops below 0.50, the geometric expert rule engine acts as an instant safety validator.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Asynchronous Queue Decoupling:</a:t>
            </a:r>
            <a:br/>
            <a:r>
              <a:t>  Audio synthesis errors are trapped within worker thread; GUI and video streams continue without interruption.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State Recovery Mechanism:</a:t>
            </a:r>
            <a:br/>
            <a:r>
              <a:t>  Microphone buttons automatically reset from 'Listening...' back to idle state using 'try...finally' blocks.</a:t>
            </a:r>
            <a:b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EXPERIMENTAL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Empirical Benchmarks &amp; Execution Latency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End-to-End Pipeline Latency (CPU Only)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Video Frame Grab (OpenCV): 4.2 ms  (240 FPS max)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MediaPipe Landmark Tracking: 18.5 ms  (54 FPS throughput)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Spatial Invariance Normalization: 0.3 ms  (&gt; 3000 FPS)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Random Forest ML Inference: 1.8 ms  (&gt; 500 FPS)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Hold Debounce State Machine: &lt; 0.1 ms  (Negligible)</a:t>
            </a:r>
          </a:p>
          <a:p>
            <a:pPr>
              <a:defRPr sz="1100" b="1">
                <a:solidFill>
                  <a:srgbClr val="10B981"/>
                </a:solidFill>
              </a:defRPr>
            </a:pPr>
            <a:r>
              <a:t>TOTAL VISION PIPELINE: 24.8 ms  (&gt; 40.3 FPS (Real-Time))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Local Audio Playback (Cache): 12.1 ms  (Instant)</a:t>
            </a:r>
          </a:p>
          <a:p>
            <a:pPr>
              <a:defRPr sz="1100">
                <a:solidFill>
                  <a:srgbClr val="CBD5E1"/>
                </a:solidFill>
              </a:defRPr>
            </a:pPr>
            <a:r>
              <a:t>pyttsx3 Offline Audio: 45.0 ms  (Near-Instant)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8B5CF6"/>
                </a:solidFill>
                <a:latin typeface="Segoe UI"/>
              </a:defRPr>
            </a:pPr>
            <a:r>
              <a:t>System Resource Footprint &amp;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8FAFC"/>
                </a:solidFill>
              </a:defRPr>
            </a:pPr>
            <a:r>
              <a:t>• Test Accuracy on 41 Classes:</a:t>
            </a:r>
            <a:br/>
            <a:r>
              <a:t>  95.05% on 1,476 unseen test samples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GPU Requirement:</a:t>
            </a:r>
            <a:br/>
            <a:r>
              <a:t>  0 GB (Runs 100% on standard laptop CPU)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RAM Consumption:</a:t>
            </a:r>
            <a:br/>
            <a:r>
              <a:t>  ~ 320 MB at full runtime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Disk Footprint:</a:t>
            </a:r>
            <a:br/>
            <a:r>
              <a:t>  ~ 85 MB (including models, cache, assets)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Hardware Compatibility:</a:t>
            </a:r>
            <a:br/>
            <a:r>
              <a:t>  Standard 720p/1080p USB or built-in webcam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OS Support:</a:t>
            </a:r>
            <a:br/>
            <a:r>
              <a:t>  Windows 10/11, Ubuntu Linux, macOS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• Speech Locales:</a:t>
            </a:r>
            <a:br/>
            <a:r>
              <a:t>  Tamil ('ta-IN' &amp; 'ta') and English ('en-US' &amp; 'en')</a:t>
            </a:r>
            <a:b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SOCIETAL VALUE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Real-World Impact &amp; Deployment Scenarios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🏥 Healthcare &amp; Emergency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Clinical Diagnostics</a:t>
            </a:r>
            <a:br/>
            <a:r>
              <a:t>Deaf patients sign pain or symptoms; system speaks Tamil/English aloud to doctors.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Prescription Clarity</a:t>
            </a:r>
            <a:br/>
            <a:r>
              <a:t>Doctor speaks medication instructions; system animates clear sign sequences for patient.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Emergency Triage</a:t>
            </a:r>
            <a:br/>
            <a:r>
              <a:t>Immediate communication during accidents where human interpreters are unavailable.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07408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0288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59E0B"/>
                </a:solidFill>
                <a:latin typeface="Segoe UI"/>
              </a:defRPr>
            </a:pPr>
            <a:r>
              <a:t>🏦 Banking &amp; Public Services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0288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Bank Counters</a:t>
            </a:r>
            <a:br/>
            <a:r>
              <a:t>Cashiers and officers converse with deaf clients seamlessly regarding accounts and loans.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Government Service Desks</a:t>
            </a:r>
            <a:br/>
            <a:r>
              <a:t>Passport, civil registration, and post office counters become immediately accessible.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Retail &amp; Grocery</a:t>
            </a:r>
            <a:br/>
            <a:r>
              <a:t>Cashiers and deaf shoppers communicate prices and queries in Tamil and English.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83296" y="1645920"/>
            <a:ext cx="3364992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66176" y="1783080"/>
            <a:ext cx="299923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🎓 Inclusive Education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66176" y="2194560"/>
            <a:ext cx="299923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• Classroom Integration</a:t>
            </a:r>
            <a:br/>
            <a:r>
              <a:t>Deaf students participate in mainstream lectures without feeling isolated.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Sign Language Tutoring</a:t>
            </a:r>
            <a:br/>
            <a:r>
              <a:t>Interactive sign dictionary and flashcards help hearing families learn manual sign language.</a:t>
            </a:r>
          </a:p>
          <a:p>
            <a:br/>
            <a:pPr>
              <a:defRPr sz="1100">
                <a:solidFill>
                  <a:srgbClr val="CBD5E1"/>
                </a:solidFill>
              </a:defRPr>
            </a:pPr>
            <a:r>
              <a:t>• Peer-to-Peer Social Good</a:t>
            </a:r>
            <a:br/>
            <a:r>
              <a:t>Enables spontaneous friendships between deaf and hearing school classmates.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6B6D4"/>
                </a:solidFill>
                <a:latin typeface="Segoe UI"/>
              </a:defRPr>
            </a:pPr>
            <a:r>
              <a:t>SUMMARY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8FAFC"/>
                </a:solidFill>
                <a:latin typeface="Segoe UI"/>
              </a:defRPr>
            </a:pPr>
            <a:r>
              <a:t>Conclusion &amp; Future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10728655" cy="18288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  <a:latin typeface="Segoe UI"/>
              </a:defRPr>
            </a:pPr>
            <a:r>
              <a:t>Key Technical Achievements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✓ Complete Bi-Directional Bridge:</a:t>
            </a:r>
            <a:br/>
            <a:r>
              <a:t>  Successfully bridged both directions (Sign ➔ Audio and Text/Voice ➔ Sign) in a single platform.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First-Class Tamil Language Support:</a:t>
            </a:r>
            <a:br/>
            <a:r>
              <a:t>  Solved regional language exclusion with native Tamil voice synthesis and script transliteration.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High-Performance Machine Learning:</a:t>
            </a:r>
            <a:br/>
            <a:r>
              <a:t>  Trained on 7,380 samples across 41 classes with 95.05% benchmark accuracy.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Zero-Cost Consumer Accessibility:</a:t>
            </a:r>
            <a:br/>
            <a:r>
              <a:t>  Requires only a standard laptop webcam. Zero specialized sensors or paid APIs required.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✓ Full Fault Isolation:</a:t>
            </a:r>
            <a:br/>
            <a:r>
              <a:t>  Robust software architecture ensuring partial mission failures never corrupt existing outputs.</a:t>
            </a:r>
            <a:br/>
          </a:p>
        </p:txBody>
      </p:sp>
      <p:sp>
        <p:nvSpPr>
          <p:cNvPr id="9" name="Rounded Rectangle 8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E293B"/>
          </a:solidFill>
          <a:ln w="1524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78308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6B6D4"/>
                </a:solidFill>
                <a:latin typeface="Segoe UI"/>
              </a:defRPr>
            </a:pPr>
            <a:r>
              <a:t>Future Roadmap &amp; Project Inquiries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194560"/>
            <a:ext cx="484632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CBD5E1"/>
                </a:solidFill>
              </a:defRPr>
            </a:pPr>
            <a:r>
              <a:t>🚀 Two-Handed Sign Tracking:</a:t>
            </a:r>
            <a:br/>
            <a:r>
              <a:t>  Expand MediaPipe dual-hand pipeline for complex two-handed phrases and continuous sentence grammar.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🚀 Indian Sign Language (ISL) Integration:</a:t>
            </a:r>
            <a:br/>
            <a:r>
              <a:t>  Incorporate the full two-handed ISL manual alphabet alongside ASL.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🚀 Mobile Edge Deployment:</a:t>
            </a:r>
            <a:br/>
            <a:r>
              <a:t>  Convert Random Forest model to ONNX / TFLite for native Android &amp; iOS mobile apps.</a:t>
            </a:r>
            <a:br/>
          </a:p>
          <a:p>
            <a:pPr>
              <a:defRPr sz="1100">
                <a:solidFill>
                  <a:srgbClr val="CBD5E1"/>
                </a:solidFill>
              </a:defRPr>
            </a:pPr>
            <a:r>
              <a:t>🚀 Repository &amp; Open Source:</a:t>
            </a:r>
            <a:br/>
            <a:r>
              <a:t>  Complete codebase and documentation published at:</a:t>
            </a:r>
            <a:br/>
            <a:r>
              <a:t>https://github.com/HepsibaMark/Sign-to-audio-and-txt-to-sign</a:t>
            </a:r>
            <a:b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